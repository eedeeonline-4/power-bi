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
  </p:notesMasterIdLst>
  <p:sldIdLst>
    <p:sldId id="256" r:id="rId2"/>
    <p:sldId id="258" r:id="rId3"/>
    <p:sldId id="259" r:id="rId4"/>
    <p:sldId id="261" r:id="rId5"/>
    <p:sldId id="262" r:id="rId6"/>
    <p:sldId id="263" r:id="rId7"/>
    <p:sldId id="265" r:id="rId8"/>
    <p:sldId id="266" r:id="rId9"/>
    <p:sldId id="267"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CD4B7C-E311-4898-8762-A51E95D43F66}" type="datetimeFigureOut">
              <a:rPr lang="en-US" smtClean="0"/>
              <a:t>12/27/2025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125B8-50F0-477E-B0EE-14FFCDEE2F00}" type="slidenum">
              <a:rPr lang="en-US" smtClean="0"/>
              <a:t>‹#›</a:t>
            </a:fld>
            <a:endParaRPr lang="en-US"/>
          </a:p>
        </p:txBody>
      </p:sp>
    </p:spTree>
    <p:extLst>
      <p:ext uri="{BB962C8B-B14F-4D97-AF65-F5344CB8AC3E}">
        <p14:creationId xmlns:p14="http://schemas.microsoft.com/office/powerpoint/2010/main" val="305151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279125B8-50F0-477E-B0EE-14FFCDEE2F00}" type="slidenum">
              <a:rPr lang="en-US" smtClean="0"/>
              <a:t>1</a:t>
            </a:fld>
            <a:endParaRPr lang="en-US"/>
          </a:p>
        </p:txBody>
      </p:sp>
    </p:spTree>
    <p:extLst>
      <p:ext uri="{BB962C8B-B14F-4D97-AF65-F5344CB8AC3E}">
        <p14:creationId xmlns:p14="http://schemas.microsoft.com/office/powerpoint/2010/main" val="36033995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12/27/2025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12/27/2025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EAB0-6056-0A69-9863-AF658B24F0EB}"/>
              </a:ext>
            </a:extLst>
          </p:cNvPr>
          <p:cNvSpPr>
            <a:spLocks noGrp="1"/>
          </p:cNvSpPr>
          <p:nvPr>
            <p:ph type="ctrTitle"/>
          </p:nvPr>
        </p:nvSpPr>
        <p:spPr/>
        <p:txBody>
          <a:bodyPr>
            <a:normAutofit fontScale="90000"/>
          </a:bodyPr>
          <a:lstStyle/>
          <a:p>
            <a:r>
              <a:rPr lang="en-US" dirty="0"/>
              <a:t>Assessing the impact of social media on mental health</a:t>
            </a:r>
            <a:br>
              <a:rPr lang="en-US" dirty="0"/>
            </a:br>
            <a:endParaRPr lang="en-US" dirty="0"/>
          </a:p>
        </p:txBody>
      </p:sp>
      <p:sp>
        <p:nvSpPr>
          <p:cNvPr id="3" name="Subtitle 2">
            <a:extLst>
              <a:ext uri="{FF2B5EF4-FFF2-40B4-BE49-F238E27FC236}">
                <a16:creationId xmlns:a16="http://schemas.microsoft.com/office/drawing/2014/main" id="{AB28F96E-801F-A3B8-D94E-C30E4F346570}"/>
              </a:ext>
            </a:extLst>
          </p:cNvPr>
          <p:cNvSpPr>
            <a:spLocks noGrp="1"/>
          </p:cNvSpPr>
          <p:nvPr>
            <p:ph type="subTitle" idx="1"/>
          </p:nvPr>
        </p:nvSpPr>
        <p:spPr/>
        <p:txBody>
          <a:bodyPr/>
          <a:lstStyle/>
          <a:p>
            <a:pPr lvl="1" algn="r"/>
            <a:r>
              <a:rPr lang="en-US" dirty="0"/>
              <a:t>Presented by EDIMA UDOUKPONG</a:t>
            </a:r>
          </a:p>
        </p:txBody>
      </p:sp>
    </p:spTree>
    <p:extLst>
      <p:ext uri="{BB962C8B-B14F-4D97-AF65-F5344CB8AC3E}">
        <p14:creationId xmlns:p14="http://schemas.microsoft.com/office/powerpoint/2010/main" val="765712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F7C5F-FAB9-5F54-453E-09E8FE147379}"/>
              </a:ext>
            </a:extLst>
          </p:cNvPr>
          <p:cNvSpPr>
            <a:spLocks noGrp="1"/>
          </p:cNvSpPr>
          <p:nvPr>
            <p:ph type="title" idx="4294967295"/>
          </p:nvPr>
        </p:nvSpPr>
        <p:spPr>
          <a:xfrm>
            <a:off x="0" y="619125"/>
            <a:ext cx="10363200" cy="852488"/>
          </a:xfrm>
        </p:spPr>
        <p:txBody>
          <a:bodyPr>
            <a:normAutofit/>
          </a:bodyPr>
          <a:lstStyle/>
          <a:p>
            <a:r>
              <a:rPr lang="en-US" sz="3200" b="1" dirty="0"/>
              <a:t>Background/objectives</a:t>
            </a:r>
          </a:p>
        </p:txBody>
      </p:sp>
      <p:sp>
        <p:nvSpPr>
          <p:cNvPr id="3" name="Content Placeholder 2">
            <a:extLst>
              <a:ext uri="{FF2B5EF4-FFF2-40B4-BE49-F238E27FC236}">
                <a16:creationId xmlns:a16="http://schemas.microsoft.com/office/drawing/2014/main" id="{198FF44E-7E6C-ED9E-D5F8-E39AC09B3235}"/>
              </a:ext>
            </a:extLst>
          </p:cNvPr>
          <p:cNvSpPr>
            <a:spLocks noGrp="1"/>
          </p:cNvSpPr>
          <p:nvPr>
            <p:ph sz="quarter" idx="4294967295"/>
          </p:nvPr>
        </p:nvSpPr>
        <p:spPr>
          <a:xfrm>
            <a:off x="0" y="1471613"/>
            <a:ext cx="10363200" cy="4319587"/>
          </a:xfrm>
        </p:spPr>
        <p:txBody>
          <a:bodyPr>
            <a:normAutofit lnSpcReduction="10000"/>
          </a:bodyPr>
          <a:lstStyle/>
          <a:p>
            <a:pPr marL="0" indent="0">
              <a:buNone/>
            </a:pPr>
            <a:r>
              <a:rPr lang="en-US" sz="1600" dirty="0"/>
              <a:t>Social media has become an integral part of daily life for people of all ages. However, increased screen time and constant online engagement have raised concerns about their effects on mental health, sleep quality, and stress levels.</a:t>
            </a:r>
          </a:p>
          <a:p>
            <a:pPr marL="0" indent="0">
              <a:buNone/>
            </a:pPr>
            <a:r>
              <a:rPr lang="en-US" sz="1600" dirty="0"/>
              <a:t>This analysis examines how various social media behaviors impact mental health outcomes, utilizing data analytics and visualization techniques to provide evidence-based insights.</a:t>
            </a:r>
          </a:p>
          <a:p>
            <a:pPr marL="0" indent="0">
              <a:buNone/>
            </a:pPr>
            <a:r>
              <a:rPr lang="en-US" sz="2400" b="1" dirty="0"/>
              <a:t>Objectives</a:t>
            </a:r>
          </a:p>
          <a:p>
            <a:r>
              <a:rPr lang="en-US" sz="1600" dirty="0"/>
              <a:t>To analyze the relationship between screen time and mental health risk</a:t>
            </a:r>
          </a:p>
          <a:p>
            <a:r>
              <a:rPr lang="en-US" sz="1600" dirty="0"/>
              <a:t>To examine how age groups differ in their vulnerability to social MEDIA-RELATED MENTAL HEALTH EFFECTS.</a:t>
            </a:r>
          </a:p>
          <a:p>
            <a:r>
              <a:rPr lang="en-US" sz="1600" dirty="0"/>
              <a:t>TO evaluate the influence of digital detox behaviors on stress, sleep quality, and happiness</a:t>
            </a:r>
          </a:p>
          <a:p>
            <a:r>
              <a:rPr lang="en-US" sz="1600" dirty="0"/>
              <a:t>To assess the role of exercise as a protective factor against mental health risk</a:t>
            </a:r>
          </a:p>
          <a:p>
            <a:r>
              <a:rPr lang="en-US" sz="1600" dirty="0"/>
              <a:t>To identify high-risk groups and patterns that can inform healthier digital habits.</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157072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A503F5E-3AA4-0552-EC1E-DB8EC833AF7F}"/>
              </a:ext>
            </a:extLst>
          </p:cNvPr>
          <p:cNvSpPr>
            <a:spLocks noGrp="1"/>
          </p:cNvSpPr>
          <p:nvPr>
            <p:ph type="title"/>
          </p:nvPr>
        </p:nvSpPr>
        <p:spPr>
          <a:xfrm>
            <a:off x="913775" y="609600"/>
            <a:ext cx="3935688" cy="780288"/>
          </a:xfrm>
        </p:spPr>
        <p:txBody>
          <a:bodyPr>
            <a:normAutofit/>
          </a:bodyPr>
          <a:lstStyle/>
          <a:p>
            <a:pPr algn="l"/>
            <a:r>
              <a:rPr lang="en-US" sz="2400" b="1" dirty="0"/>
              <a:t>Data fields</a:t>
            </a:r>
          </a:p>
        </p:txBody>
      </p:sp>
      <p:sp>
        <p:nvSpPr>
          <p:cNvPr id="7" name="Content Placeholder 6">
            <a:extLst>
              <a:ext uri="{FF2B5EF4-FFF2-40B4-BE49-F238E27FC236}">
                <a16:creationId xmlns:a16="http://schemas.microsoft.com/office/drawing/2014/main" id="{36445B13-7BF2-C2A3-C6CD-1BF0E944AC93}"/>
              </a:ext>
            </a:extLst>
          </p:cNvPr>
          <p:cNvSpPr>
            <a:spLocks noGrp="1"/>
          </p:cNvSpPr>
          <p:nvPr>
            <p:ph sz="quarter" idx="13"/>
          </p:nvPr>
        </p:nvSpPr>
        <p:spPr>
          <a:xfrm>
            <a:off x="4187952" y="999744"/>
            <a:ext cx="6962257" cy="5181599"/>
          </a:xfrm>
        </p:spPr>
        <p:txBody>
          <a:bodyPr>
            <a:normAutofit fontScale="85000" lnSpcReduction="20000"/>
          </a:bodyPr>
          <a:lstStyle/>
          <a:p>
            <a:pPr marL="0" indent="0" algn="ctr">
              <a:buNone/>
            </a:pPr>
            <a:r>
              <a:rPr lang="en-US" sz="2400" b="1" dirty="0" err="1"/>
              <a:t>kpi’s</a:t>
            </a:r>
            <a:endParaRPr lang="en-US" sz="2400" b="1" dirty="0"/>
          </a:p>
          <a:p>
            <a:pPr marL="0" indent="0">
              <a:buNone/>
            </a:pPr>
            <a:r>
              <a:rPr lang="en-US" sz="1600" b="1" dirty="0"/>
              <a:t>Total number of users - </a:t>
            </a:r>
            <a:r>
              <a:rPr lang="en-US" sz="1600" dirty="0"/>
              <a:t>117</a:t>
            </a:r>
            <a:endParaRPr lang="en-US" sz="1600" b="1" dirty="0"/>
          </a:p>
          <a:p>
            <a:pPr marL="0" indent="0">
              <a:buNone/>
            </a:pPr>
            <a:r>
              <a:rPr lang="en-US" sz="1600" b="1" dirty="0"/>
              <a:t>Average daily screen time use(hours) </a:t>
            </a:r>
            <a:r>
              <a:rPr lang="en-US" sz="1600" dirty="0"/>
              <a:t>– 5.13hrs</a:t>
            </a:r>
            <a:endParaRPr lang="en-US" sz="1600" b="1" dirty="0"/>
          </a:p>
          <a:p>
            <a:pPr marL="0" indent="0">
              <a:buNone/>
            </a:pPr>
            <a:r>
              <a:rPr lang="en-US" sz="1600" b="1" dirty="0"/>
              <a:t>Average mental health risk score(%) – </a:t>
            </a:r>
            <a:r>
              <a:rPr lang="en-US" sz="1600" dirty="0"/>
              <a:t>44%</a:t>
            </a:r>
            <a:endParaRPr lang="en-US" sz="1600" b="1" dirty="0"/>
          </a:p>
          <a:p>
            <a:pPr marL="0" indent="0">
              <a:buNone/>
            </a:pPr>
            <a:r>
              <a:rPr lang="en-US" sz="1600" b="1" dirty="0"/>
              <a:t>Mental health risk category – </a:t>
            </a:r>
            <a:r>
              <a:rPr lang="en-US" sz="1600" dirty="0"/>
              <a:t>(&lt;34-low risk, 34-65-moderate risk, &gt;= 65 -high risk) </a:t>
            </a:r>
            <a:endParaRPr lang="en-US" sz="1600" b="1" dirty="0"/>
          </a:p>
          <a:p>
            <a:pPr marL="0" indent="0">
              <a:buNone/>
            </a:pPr>
            <a:r>
              <a:rPr lang="en-US" sz="1600" b="1" dirty="0"/>
              <a:t>Social media platforms - </a:t>
            </a:r>
            <a:r>
              <a:rPr lang="en-US" sz="1600" dirty="0"/>
              <a:t>Instagram, Facebook, TikTok, LinkedIn, Twitter, YouTube</a:t>
            </a:r>
            <a:endParaRPr lang="en-US" sz="1600" b="1" dirty="0"/>
          </a:p>
          <a:p>
            <a:pPr marL="0" indent="0">
              <a:buNone/>
            </a:pPr>
            <a:r>
              <a:rPr lang="en-US" sz="1600" b="1" dirty="0"/>
              <a:t>Age groups –((</a:t>
            </a:r>
            <a:r>
              <a:rPr lang="en-US" sz="1600" dirty="0"/>
              <a:t>16-19{teens}, 20-29{young adults},30-39{adults}, &gt;=40{older adults})</a:t>
            </a:r>
            <a:endParaRPr lang="en-US" sz="1600" b="1" dirty="0"/>
          </a:p>
          <a:p>
            <a:pPr marL="0" indent="0">
              <a:buNone/>
            </a:pPr>
            <a:r>
              <a:rPr lang="en-US" sz="1600" b="1" dirty="0"/>
              <a:t>Screen time category – (</a:t>
            </a:r>
            <a:r>
              <a:rPr lang="en-US" sz="1600" dirty="0"/>
              <a:t>7-9hrs{high}, 1-3{low}, 4-6{moderate})</a:t>
            </a:r>
            <a:endParaRPr lang="en-US" sz="1600" b="1" dirty="0"/>
          </a:p>
          <a:p>
            <a:pPr marL="0" indent="0">
              <a:buNone/>
            </a:pPr>
            <a:r>
              <a:rPr lang="en-US" sz="1600" b="1" dirty="0"/>
              <a:t>Stress level category </a:t>
            </a:r>
            <a:r>
              <a:rPr lang="en-US" sz="1600" dirty="0"/>
              <a:t>– (0-3{low}, 4-6{medium}, 7-10{high})</a:t>
            </a:r>
            <a:endParaRPr lang="en-US" sz="1600" b="1" dirty="0"/>
          </a:p>
          <a:p>
            <a:pPr marL="0" indent="0">
              <a:buNone/>
            </a:pPr>
            <a:r>
              <a:rPr lang="en-US" sz="1600" b="1" dirty="0"/>
              <a:t>Happiness level – </a:t>
            </a:r>
            <a:r>
              <a:rPr lang="en-US" sz="1600" dirty="0"/>
              <a:t>(8-10{high}, 4-7{moderate})</a:t>
            </a:r>
            <a:endParaRPr lang="en-US" sz="1600" b="1" dirty="0"/>
          </a:p>
          <a:p>
            <a:pPr marL="0" indent="0">
              <a:buNone/>
            </a:pPr>
            <a:r>
              <a:rPr lang="en-US" sz="1600" b="1" dirty="0"/>
              <a:t>Detox level – </a:t>
            </a:r>
            <a:r>
              <a:rPr lang="en-US" sz="1600" dirty="0"/>
              <a:t>(1-3{short break}, 4-7(long break, 0{none})</a:t>
            </a:r>
            <a:endParaRPr lang="en-US" sz="1600" b="1" dirty="0"/>
          </a:p>
          <a:p>
            <a:pPr marL="0" indent="0">
              <a:buNone/>
            </a:pPr>
            <a:r>
              <a:rPr lang="en-US" sz="1600" b="1" dirty="0"/>
              <a:t>Sleep quality category – (</a:t>
            </a:r>
            <a:r>
              <a:rPr lang="en-US" sz="1600" dirty="0"/>
              <a:t>0-4hrs{poor}, 5-6hrS{fair}, 7hrs and above {good})</a:t>
            </a:r>
            <a:endParaRPr lang="en-US" sz="1600" b="1" dirty="0"/>
          </a:p>
          <a:p>
            <a:pPr marL="0" indent="0">
              <a:buNone/>
            </a:pPr>
            <a:r>
              <a:rPr lang="en-US" sz="1600" b="1" dirty="0"/>
              <a:t> 	 </a:t>
            </a:r>
          </a:p>
          <a:p>
            <a:pPr marL="0" indent="0" algn="ctr">
              <a:buNone/>
            </a:pPr>
            <a:endParaRPr lang="en-US" sz="2400" b="1" dirty="0"/>
          </a:p>
        </p:txBody>
      </p:sp>
      <p:sp>
        <p:nvSpPr>
          <p:cNvPr id="6" name="Text Placeholder 5">
            <a:extLst>
              <a:ext uri="{FF2B5EF4-FFF2-40B4-BE49-F238E27FC236}">
                <a16:creationId xmlns:a16="http://schemas.microsoft.com/office/drawing/2014/main" id="{6BBFC31D-ABFF-9599-C6C4-743E1DFC0689}"/>
              </a:ext>
            </a:extLst>
          </p:cNvPr>
          <p:cNvSpPr>
            <a:spLocks noGrp="1"/>
          </p:cNvSpPr>
          <p:nvPr>
            <p:ph type="body" sz="half" idx="2"/>
          </p:nvPr>
        </p:nvSpPr>
        <p:spPr>
          <a:xfrm>
            <a:off x="913774" y="1554480"/>
            <a:ext cx="3935689" cy="4236720"/>
          </a:xfrm>
        </p:spPr>
        <p:txBody>
          <a:bodyPr>
            <a:normAutofit fontScale="92500" lnSpcReduction="10000"/>
          </a:bodyPr>
          <a:lstStyle/>
          <a:p>
            <a:pPr algn="l"/>
            <a:r>
              <a:rPr lang="en-US" sz="2200" b="1" dirty="0"/>
              <a:t>User information</a:t>
            </a:r>
          </a:p>
          <a:p>
            <a:pPr algn="l"/>
            <a:r>
              <a:rPr lang="en-US" dirty="0"/>
              <a:t>User id</a:t>
            </a:r>
          </a:p>
          <a:p>
            <a:pPr algn="l"/>
            <a:r>
              <a:rPr lang="en-US" dirty="0"/>
              <a:t>Age</a:t>
            </a:r>
          </a:p>
          <a:p>
            <a:pPr algn="l"/>
            <a:r>
              <a:rPr lang="en-US" dirty="0"/>
              <a:t>Gender</a:t>
            </a:r>
          </a:p>
          <a:p>
            <a:pPr algn="l"/>
            <a:r>
              <a:rPr lang="en-US" dirty="0"/>
              <a:t>Daily screen time(hours)</a:t>
            </a:r>
          </a:p>
          <a:p>
            <a:pPr algn="l"/>
            <a:r>
              <a:rPr lang="en-US" dirty="0"/>
              <a:t>Sleep quality(1-10)</a:t>
            </a:r>
          </a:p>
          <a:p>
            <a:pPr algn="l"/>
            <a:r>
              <a:rPr lang="en-US" dirty="0"/>
              <a:t>Stress level(1-10)</a:t>
            </a:r>
          </a:p>
          <a:p>
            <a:pPr algn="l"/>
            <a:r>
              <a:rPr lang="en-US" dirty="0"/>
              <a:t>Days without social media</a:t>
            </a:r>
          </a:p>
          <a:p>
            <a:pPr algn="l"/>
            <a:r>
              <a:rPr lang="en-US" dirty="0"/>
              <a:t>Exercise frequency</a:t>
            </a:r>
          </a:p>
          <a:p>
            <a:pPr algn="l"/>
            <a:r>
              <a:rPr lang="en-US" dirty="0"/>
              <a:t>Social media platform</a:t>
            </a:r>
          </a:p>
          <a:p>
            <a:pPr algn="l"/>
            <a:r>
              <a:rPr lang="en-US" dirty="0"/>
              <a:t>Happiness index(1-10)</a:t>
            </a:r>
          </a:p>
          <a:p>
            <a:pPr algn="l"/>
            <a:endParaRPr lang="en-US" dirty="0"/>
          </a:p>
          <a:p>
            <a:pPr algn="l"/>
            <a:endParaRPr lang="en-US" sz="1100" dirty="0"/>
          </a:p>
        </p:txBody>
      </p:sp>
    </p:spTree>
    <p:extLst>
      <p:ext uri="{BB962C8B-B14F-4D97-AF65-F5344CB8AC3E}">
        <p14:creationId xmlns:p14="http://schemas.microsoft.com/office/powerpoint/2010/main" val="2774392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pie chart&#10;&#10;AI-generated content may be incorrect.">
            <a:extLst>
              <a:ext uri="{FF2B5EF4-FFF2-40B4-BE49-F238E27FC236}">
                <a16:creationId xmlns:a16="http://schemas.microsoft.com/office/drawing/2014/main" id="{ABB3CF6C-AA4B-6053-F500-CAF965511585}"/>
              </a:ext>
            </a:extLst>
          </p:cNvPr>
          <p:cNvPicPr>
            <a:picLocks noChangeAspect="1"/>
          </p:cNvPicPr>
          <p:nvPr/>
        </p:nvPicPr>
        <p:blipFill>
          <a:blip r:embed="rId2"/>
          <a:stretch>
            <a:fillRect/>
          </a:stretch>
        </p:blipFill>
        <p:spPr>
          <a:xfrm>
            <a:off x="1100000" y="1319095"/>
            <a:ext cx="4297320" cy="4037402"/>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5" name="Picture 4" descr="A graph of a pie chart&#10;&#10;AI-generated content may be incorrect.">
            <a:extLst>
              <a:ext uri="{FF2B5EF4-FFF2-40B4-BE49-F238E27FC236}">
                <a16:creationId xmlns:a16="http://schemas.microsoft.com/office/drawing/2014/main" id="{C903264F-9151-91DA-E653-253D36CFBBE9}"/>
              </a:ext>
            </a:extLst>
          </p:cNvPr>
          <p:cNvPicPr>
            <a:picLocks noChangeAspect="1"/>
          </p:cNvPicPr>
          <p:nvPr/>
        </p:nvPicPr>
        <p:blipFill>
          <a:blip r:embed="rId3"/>
          <a:stretch>
            <a:fillRect/>
          </a:stretch>
        </p:blipFill>
        <p:spPr>
          <a:xfrm>
            <a:off x="6691188" y="1319094"/>
            <a:ext cx="4080444" cy="4037402"/>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Tree>
    <p:extLst>
      <p:ext uri="{BB962C8B-B14F-4D97-AF65-F5344CB8AC3E}">
        <p14:creationId xmlns:p14="http://schemas.microsoft.com/office/powerpoint/2010/main" val="2214065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graph&#10;&#10;AI-generated content may be incorrect.">
            <a:extLst>
              <a:ext uri="{FF2B5EF4-FFF2-40B4-BE49-F238E27FC236}">
                <a16:creationId xmlns:a16="http://schemas.microsoft.com/office/drawing/2014/main" id="{3571734B-D831-A700-17CC-736C5CF571A7}"/>
              </a:ext>
            </a:extLst>
          </p:cNvPr>
          <p:cNvPicPr>
            <a:picLocks noChangeAspect="1"/>
          </p:cNvPicPr>
          <p:nvPr/>
        </p:nvPicPr>
        <p:blipFill>
          <a:blip r:embed="rId2"/>
          <a:stretch>
            <a:fillRect/>
          </a:stretch>
        </p:blipFill>
        <p:spPr>
          <a:xfrm>
            <a:off x="549629" y="916207"/>
            <a:ext cx="11092741" cy="5025585"/>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Tree>
    <p:extLst>
      <p:ext uri="{BB962C8B-B14F-4D97-AF65-F5344CB8AC3E}">
        <p14:creationId xmlns:p14="http://schemas.microsoft.com/office/powerpoint/2010/main" val="1447961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purple bars&#10;&#10;AI-generated content may be incorrect.">
            <a:extLst>
              <a:ext uri="{FF2B5EF4-FFF2-40B4-BE49-F238E27FC236}">
                <a16:creationId xmlns:a16="http://schemas.microsoft.com/office/drawing/2014/main" id="{5FDA7FF9-A6FD-3005-0D8C-D836FEC0AA4A}"/>
              </a:ext>
            </a:extLst>
          </p:cNvPr>
          <p:cNvPicPr>
            <a:picLocks noChangeAspect="1"/>
          </p:cNvPicPr>
          <p:nvPr/>
        </p:nvPicPr>
        <p:blipFill>
          <a:blip r:embed="rId2"/>
          <a:stretch>
            <a:fillRect/>
          </a:stretch>
        </p:blipFill>
        <p:spPr>
          <a:xfrm>
            <a:off x="867925" y="966030"/>
            <a:ext cx="4661775" cy="4703250"/>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4" name="Picture 3" descr="A screenshot of a graph&#10;&#10;AI-generated content may be incorrect.">
            <a:extLst>
              <a:ext uri="{FF2B5EF4-FFF2-40B4-BE49-F238E27FC236}">
                <a16:creationId xmlns:a16="http://schemas.microsoft.com/office/drawing/2014/main" id="{6F0DC5BD-6E61-1D4D-845B-899B441ABB97}"/>
              </a:ext>
            </a:extLst>
          </p:cNvPr>
          <p:cNvPicPr>
            <a:picLocks noChangeAspect="1"/>
          </p:cNvPicPr>
          <p:nvPr/>
        </p:nvPicPr>
        <p:blipFill>
          <a:blip r:embed="rId3"/>
          <a:stretch>
            <a:fillRect/>
          </a:stretch>
        </p:blipFill>
        <p:spPr>
          <a:xfrm>
            <a:off x="6415593" y="966030"/>
            <a:ext cx="5178999" cy="4703250"/>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Tree>
    <p:extLst>
      <p:ext uri="{BB962C8B-B14F-4D97-AF65-F5344CB8AC3E}">
        <p14:creationId xmlns:p14="http://schemas.microsoft.com/office/powerpoint/2010/main" val="3043985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3D500981-7109-561C-19D9-7C066DB920CA}"/>
              </a:ext>
            </a:extLst>
          </p:cNvPr>
          <p:cNvPicPr>
            <a:picLocks noChangeAspect="1"/>
          </p:cNvPicPr>
          <p:nvPr/>
        </p:nvPicPr>
        <p:blipFill>
          <a:blip r:embed="rId2"/>
          <a:stretch>
            <a:fillRect/>
          </a:stretch>
        </p:blipFill>
        <p:spPr>
          <a:xfrm>
            <a:off x="952500" y="555271"/>
            <a:ext cx="10287000" cy="5747457"/>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Tree>
    <p:extLst>
      <p:ext uri="{BB962C8B-B14F-4D97-AF65-F5344CB8AC3E}">
        <p14:creationId xmlns:p14="http://schemas.microsoft.com/office/powerpoint/2010/main" val="1534746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3519C-08E5-3534-8AAD-16535E2EBD87}"/>
              </a:ext>
            </a:extLst>
          </p:cNvPr>
          <p:cNvSpPr>
            <a:spLocks noGrp="1"/>
          </p:cNvSpPr>
          <p:nvPr>
            <p:ph type="ctrTitle"/>
          </p:nvPr>
        </p:nvSpPr>
        <p:spPr>
          <a:xfrm>
            <a:off x="1751012" y="292609"/>
            <a:ext cx="8689976" cy="713231"/>
          </a:xfrm>
        </p:spPr>
        <p:txBody>
          <a:bodyPr>
            <a:normAutofit/>
          </a:bodyPr>
          <a:lstStyle/>
          <a:p>
            <a:r>
              <a:rPr lang="en-US" sz="3200" b="1" dirty="0"/>
              <a:t>Key findings</a:t>
            </a:r>
          </a:p>
        </p:txBody>
      </p:sp>
      <p:sp>
        <p:nvSpPr>
          <p:cNvPr id="3" name="Subtitle 2">
            <a:extLst>
              <a:ext uri="{FF2B5EF4-FFF2-40B4-BE49-F238E27FC236}">
                <a16:creationId xmlns:a16="http://schemas.microsoft.com/office/drawing/2014/main" id="{D8F88D04-E4E7-89A0-1D95-37D3EBDA4DDD}"/>
              </a:ext>
            </a:extLst>
          </p:cNvPr>
          <p:cNvSpPr>
            <a:spLocks noGrp="1"/>
          </p:cNvSpPr>
          <p:nvPr>
            <p:ph type="subTitle" idx="1"/>
          </p:nvPr>
        </p:nvSpPr>
        <p:spPr>
          <a:xfrm>
            <a:off x="202692" y="1005840"/>
            <a:ext cx="11786616" cy="8074152"/>
          </a:xfrm>
        </p:spPr>
        <p:txBody>
          <a:bodyPr>
            <a:normAutofit/>
          </a:bodyPr>
          <a:lstStyle/>
          <a:p>
            <a:pPr marL="285750" indent="-285750" algn="l">
              <a:buFont typeface="Wingdings" panose="05000000000000000000" pitchFamily="2" charset="2"/>
              <a:buChar char="q"/>
            </a:pPr>
            <a:r>
              <a:rPr lang="en-US" sz="1400" dirty="0">
                <a:solidFill>
                  <a:schemeClr val="tx1"/>
                </a:solidFill>
              </a:rPr>
              <a:t>The analysis examined the relationship between social media usage and mental health outcomes across 117 users.</a:t>
            </a:r>
          </a:p>
          <a:p>
            <a:pPr marL="285750" indent="-285750" algn="l">
              <a:buFont typeface="Wingdings" panose="05000000000000000000" pitchFamily="2" charset="2"/>
              <a:buChar char="q"/>
            </a:pPr>
            <a:r>
              <a:rPr lang="en-US" sz="1400" dirty="0">
                <a:solidFill>
                  <a:schemeClr val="tx1"/>
                </a:solidFill>
              </a:rPr>
              <a:t>The average daily screen time was 5.13 hours, while the average mental health risk score stood at 44%, indicating a moderate overall risk level.</a:t>
            </a:r>
          </a:p>
          <a:p>
            <a:pPr marL="285750" indent="-285750" algn="l">
              <a:buFont typeface="Wingdings" panose="05000000000000000000" pitchFamily="2" charset="2"/>
              <a:buChar char="q"/>
            </a:pPr>
            <a:r>
              <a:rPr lang="en-US" sz="1400" dirty="0">
                <a:solidFill>
                  <a:schemeClr val="tx1"/>
                </a:solidFill>
              </a:rPr>
              <a:t>In terms of risk distribution, 10% of users were classified as high risk, 57% as moderate risk, and 32% as low risk.</a:t>
            </a:r>
          </a:p>
          <a:p>
            <a:pPr marL="285750" indent="-285750" algn="l">
              <a:buFont typeface="Wingdings" panose="05000000000000000000" pitchFamily="2" charset="2"/>
              <a:buChar char="q"/>
            </a:pPr>
            <a:r>
              <a:rPr lang="en-US" sz="1400" dirty="0">
                <a:solidFill>
                  <a:schemeClr val="tx1"/>
                </a:solidFill>
              </a:rPr>
              <a:t>Male users exhibited the highest mental health risk (37%), followed by female users (32%), while users identifying as neither male nor female recorded the lowest risk (30%).</a:t>
            </a:r>
          </a:p>
          <a:p>
            <a:pPr marL="285750" indent="-285750" algn="l">
              <a:buFont typeface="Wingdings" panose="05000000000000000000" pitchFamily="2" charset="2"/>
              <a:buChar char="q"/>
            </a:pPr>
            <a:r>
              <a:rPr lang="en-US" sz="1400" dirty="0">
                <a:solidFill>
                  <a:schemeClr val="tx1"/>
                </a:solidFill>
              </a:rPr>
              <a:t>Platform-based analysis revealed that Instagram was associated with the highest mental health risk, followed by Facebook, whereas LinkedIn, a professional platform, showed the lowest risk.</a:t>
            </a:r>
          </a:p>
          <a:p>
            <a:pPr marL="285750" indent="-285750" algn="l">
              <a:buFont typeface="Wingdings" panose="05000000000000000000" pitchFamily="2" charset="2"/>
              <a:buChar char="q"/>
            </a:pPr>
            <a:r>
              <a:rPr lang="en-US" sz="1400" dirty="0">
                <a:solidFill>
                  <a:schemeClr val="tx1"/>
                </a:solidFill>
              </a:rPr>
              <a:t>A clear positive relationship was observed between screen time and stress levels, with higher screen time leading to increased stress and a higher mental health risk score.</a:t>
            </a:r>
          </a:p>
          <a:p>
            <a:pPr marL="285750" indent="-285750" algn="l">
              <a:buFont typeface="Wingdings" panose="05000000000000000000" pitchFamily="2" charset="2"/>
              <a:buChar char="q"/>
            </a:pPr>
            <a:r>
              <a:rPr lang="en-US" sz="1400" dirty="0">
                <a:solidFill>
                  <a:schemeClr val="tx1"/>
                </a:solidFill>
              </a:rPr>
              <a:t>Exercise frequency showed a protective effect, as users who exercised more frequently per week exhibited lower mental health risk.</a:t>
            </a:r>
          </a:p>
          <a:p>
            <a:pPr marL="285750" indent="-285750" algn="l">
              <a:buFont typeface="Wingdings" panose="05000000000000000000" pitchFamily="2" charset="2"/>
              <a:buChar char="q"/>
            </a:pPr>
            <a:r>
              <a:rPr lang="en-US" sz="1400" dirty="0">
                <a:solidFill>
                  <a:schemeClr val="tx1"/>
                </a:solidFill>
              </a:rPr>
              <a:t>By age group, older adults recorded the highest mental health risk, while teenagers had the lowest overall risk. However, further analysis showed that teenagers with high screen time faced a significantly elevated risk of up to 72%.</a:t>
            </a:r>
          </a:p>
          <a:p>
            <a:pPr marL="285750" indent="-285750" algn="l">
              <a:buFont typeface="Wingdings" panose="05000000000000000000" pitchFamily="2" charset="2"/>
              <a:buChar char="q"/>
            </a:pPr>
            <a:r>
              <a:rPr lang="en-US" sz="1400" dirty="0">
                <a:solidFill>
                  <a:schemeClr val="tx1"/>
                </a:solidFill>
              </a:rPr>
              <a:t>Digital detox analysis indicated that users who did not take any break from social media had the highest mental health risk, followed by those who took short breaks. Users who took longer breaks experienced the lowest risk.</a:t>
            </a:r>
          </a:p>
          <a:p>
            <a:pPr marL="285750" indent="-285750" algn="l">
              <a:buFont typeface="Wingdings" panose="05000000000000000000" pitchFamily="2" charset="2"/>
              <a:buChar char="q"/>
            </a:pPr>
            <a:r>
              <a:rPr lang="en-US" sz="1400" dirty="0">
                <a:solidFill>
                  <a:schemeClr val="tx1"/>
                </a:solidFill>
              </a:rPr>
              <a:t>A similar pattern was observed for happiness and sleep quality, where longer social media breaks were associated with higher happiness levels and better sleep, while increased screen time was linked to poorer sleep quality.</a:t>
            </a:r>
          </a:p>
          <a:p>
            <a:endParaRPr lang="en-US" dirty="0"/>
          </a:p>
        </p:txBody>
      </p:sp>
    </p:spTree>
    <p:extLst>
      <p:ext uri="{BB962C8B-B14F-4D97-AF65-F5344CB8AC3E}">
        <p14:creationId xmlns:p14="http://schemas.microsoft.com/office/powerpoint/2010/main" val="419743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F373D-A4A0-710E-630C-61C04E455BDE}"/>
              </a:ext>
            </a:extLst>
          </p:cNvPr>
          <p:cNvSpPr>
            <a:spLocks noGrp="1"/>
          </p:cNvSpPr>
          <p:nvPr>
            <p:ph type="title"/>
          </p:nvPr>
        </p:nvSpPr>
        <p:spPr>
          <a:xfrm>
            <a:off x="913775" y="618517"/>
            <a:ext cx="10364451" cy="651933"/>
          </a:xfrm>
        </p:spPr>
        <p:txBody>
          <a:bodyPr>
            <a:normAutofit/>
          </a:bodyPr>
          <a:lstStyle/>
          <a:p>
            <a:r>
              <a:rPr lang="en-US" sz="3200" b="1" dirty="0"/>
              <a:t>conclusion</a:t>
            </a:r>
          </a:p>
        </p:txBody>
      </p:sp>
      <p:sp>
        <p:nvSpPr>
          <p:cNvPr id="3" name="Content Placeholder 2">
            <a:extLst>
              <a:ext uri="{FF2B5EF4-FFF2-40B4-BE49-F238E27FC236}">
                <a16:creationId xmlns:a16="http://schemas.microsoft.com/office/drawing/2014/main" id="{CBDF7FF2-004D-33E1-CADC-84849A7D1AD0}"/>
              </a:ext>
            </a:extLst>
          </p:cNvPr>
          <p:cNvSpPr>
            <a:spLocks noGrp="1"/>
          </p:cNvSpPr>
          <p:nvPr>
            <p:ph sz="quarter" idx="13"/>
          </p:nvPr>
        </p:nvSpPr>
        <p:spPr>
          <a:xfrm>
            <a:off x="913774" y="1165254"/>
            <a:ext cx="10363826" cy="4625946"/>
          </a:xfrm>
        </p:spPr>
        <p:txBody>
          <a:bodyPr/>
          <a:lstStyle/>
          <a:p>
            <a:pPr marL="0" indent="0">
              <a:buNone/>
            </a:pPr>
            <a:r>
              <a:rPr lang="en-US" dirty="0"/>
              <a:t>Overall, the analysis demonstrates that prolonged social media use is strongly associated with increased mental health risk, particularly through higher stress levels, poorer sleep quality, and reduced well-being. While certain demographic groups, platforms, and usage patterns show higher vulnerability, the findings also highlight the importance of protective behaviors such as regular exercise and intentional digital breaks. These results suggest that healthier social media habits, combined with balanced lifestyle choices, can significantly reduce mental health risks and improve overall well-being.</a:t>
            </a:r>
          </a:p>
          <a:p>
            <a:pPr marL="0" indent="0">
              <a:buNone/>
            </a:pPr>
            <a:endParaRPr lang="en-US" dirty="0"/>
          </a:p>
        </p:txBody>
      </p:sp>
    </p:spTree>
    <p:extLst>
      <p:ext uri="{BB962C8B-B14F-4D97-AF65-F5344CB8AC3E}">
        <p14:creationId xmlns:p14="http://schemas.microsoft.com/office/powerpoint/2010/main" val="2155347108"/>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1654</TotalTime>
  <Words>786</Words>
  <Application>Microsoft Office PowerPoint</Application>
  <PresentationFormat>Widescreen</PresentationFormat>
  <Paragraphs>53</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Tw Cen MT</vt:lpstr>
      <vt:lpstr>Wingdings</vt:lpstr>
      <vt:lpstr>Droplet</vt:lpstr>
      <vt:lpstr>Assessing the impact of social media on mental health </vt:lpstr>
      <vt:lpstr>Background/objectives</vt:lpstr>
      <vt:lpstr>Data fields</vt:lpstr>
      <vt:lpstr>PowerPoint Presentation</vt:lpstr>
      <vt:lpstr>PowerPoint Presentation</vt:lpstr>
      <vt:lpstr>PowerPoint Presentation</vt:lpstr>
      <vt:lpstr>PowerPoint Presentation</vt:lpstr>
      <vt:lpstr>Key findings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5</cp:revision>
  <dcterms:created xsi:type="dcterms:W3CDTF">2025-12-26T14:28:43Z</dcterms:created>
  <dcterms:modified xsi:type="dcterms:W3CDTF">2025-12-28T15:48:24Z</dcterms:modified>
</cp:coreProperties>
</file>